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0" d="100"/>
          <a:sy n="80" d="100"/>
        </p:scale>
        <p:origin x="132" y="65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tableStyles" Target="tableStyles.xml"/><Relationship Id="rId21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15D1301-0E2F-4A95-9420-F187F9112D05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F489843-94A4-43A7-BDAF-BAAAFCB155F5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-75224" y="-60959"/>
            <a:ext cx="12267225" cy="6927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 flipH="0" flipV="0">
            <a:off x="682257" y="1863090"/>
            <a:ext cx="10828562" cy="2194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endParaRPr/>
          </a:p>
          <a:p>
            <a:pPr algn="ctr">
              <a:defRPr/>
            </a:pPr>
            <a:r>
              <a:rPr lang="ru-RU" sz="3200" b="1">
                <a:solidFill>
                  <a:schemeClr val="bg1"/>
                </a:solidFill>
                <a:latin typeface="Ubuntu Light"/>
                <a:ea typeface="Ubuntu Light"/>
                <a:cs typeface="Ubuntu Light"/>
              </a:rPr>
              <a:t>Разработка модульной системы управления проектами</a:t>
            </a:r>
            <a:endParaRPr sz="2800">
              <a:solidFill>
                <a:schemeClr val="bg1"/>
              </a:solidFill>
              <a:latin typeface="Ubuntu Light"/>
              <a:cs typeface="Ubuntu Light"/>
            </a:endParaRPr>
          </a:p>
          <a:p>
            <a:pPr algn="r">
              <a:defRPr/>
            </a:pPr>
            <a:endParaRPr lang="ru-RU" sz="2800">
              <a:solidFill>
                <a:schemeClr val="bg1"/>
              </a:solidFill>
              <a:latin typeface="Gotham Pro Black"/>
              <a:cs typeface="Gotham Pro Black"/>
            </a:endParaRPr>
          </a:p>
          <a:p>
            <a:pPr algn="r">
              <a:defRPr/>
            </a:pPr>
            <a:endParaRPr lang="ru-RU" sz="2800">
              <a:solidFill>
                <a:schemeClr val="bg1"/>
              </a:solidFill>
              <a:latin typeface="Gotham Pro Black"/>
              <a:cs typeface="Gotham Pro Black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408" y="2836724"/>
            <a:ext cx="6219797" cy="372857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00297" y="112340"/>
            <a:ext cx="3405051" cy="1375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 flipH="0" flipV="0">
            <a:off x="7074194" y="5149214"/>
            <a:ext cx="5117804" cy="100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/>
            </a:pPr>
            <a:r>
              <a:rPr lang="ru-RU" sz="2000">
                <a:solidFill>
                  <a:schemeClr val="bg1"/>
                </a:solidFill>
                <a:latin typeface="Ubuntu Light"/>
                <a:ea typeface="Ubuntu Light"/>
                <a:cs typeface="Ubuntu Light"/>
              </a:rPr>
              <a:t>Автор: </a:t>
            </a:r>
            <a:r>
              <a:rPr lang="ru-RU" sz="2000">
                <a:solidFill>
                  <a:schemeClr val="bg1"/>
                </a:solidFill>
                <a:latin typeface="Ubuntu Light"/>
                <a:ea typeface="Ubuntu Light"/>
                <a:cs typeface="Ubuntu Light"/>
              </a:rPr>
              <a:t>Семин Кирилл Валерьевич</a:t>
            </a:r>
            <a:endParaRPr>
              <a:latin typeface="Ubuntu Light"/>
              <a:cs typeface="Ubuntu Light"/>
            </a:endParaRPr>
          </a:p>
          <a:p>
            <a:pPr>
              <a:defRPr/>
            </a:pPr>
            <a:r>
              <a:rPr lang="ru-RU" sz="2000">
                <a:solidFill>
                  <a:schemeClr val="bg1"/>
                </a:solidFill>
                <a:latin typeface="Ubuntu Light"/>
                <a:ea typeface="Ubuntu Light"/>
                <a:cs typeface="Ubuntu Light"/>
              </a:rPr>
              <a:t>Руководитель : к</a:t>
            </a:r>
            <a:r>
              <a:rPr lang="ru-RU" sz="2000">
                <a:solidFill>
                  <a:schemeClr val="bg1"/>
                </a:solidFill>
                <a:latin typeface="Ubuntu Light"/>
                <a:ea typeface="Ubuntu Light"/>
                <a:cs typeface="Ubuntu Light"/>
              </a:rPr>
              <a:t>анд. техн. наук, доцент</a:t>
            </a:r>
            <a:endParaRPr sz="2000">
              <a:solidFill>
                <a:schemeClr val="bg1"/>
              </a:solidFill>
              <a:latin typeface="Ubuntu Light"/>
              <a:cs typeface="Ubuntu Light"/>
            </a:endParaRPr>
          </a:p>
          <a:p>
            <a:pPr algn="l">
              <a:spcBef>
                <a:spcPts val="0"/>
              </a:spcBef>
              <a:defRPr/>
            </a:pPr>
            <a:r>
              <a:rPr lang="ru-RU" sz="2000">
                <a:solidFill>
                  <a:schemeClr val="bg1"/>
                </a:solidFill>
                <a:latin typeface="Ubuntu Light"/>
                <a:ea typeface="Ubuntu Light"/>
                <a:cs typeface="Ubuntu Light"/>
              </a:rPr>
              <a:t>Ямашкин</a:t>
            </a:r>
            <a:r>
              <a:rPr lang="ru-RU" sz="2000">
                <a:solidFill>
                  <a:schemeClr val="bg1"/>
                </a:solidFill>
                <a:latin typeface="Ubuntu Light"/>
                <a:ea typeface="Ubuntu Light"/>
                <a:cs typeface="Ubuntu Light"/>
              </a:rPr>
              <a:t> Станислав Анатольевич</a:t>
            </a:r>
            <a:endParaRPr>
              <a:latin typeface="Ubuntu Light"/>
              <a:cs typeface="Ubuntu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7798"/>
            <a:ext cx="121897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1304211" y="253305"/>
            <a:ext cx="9583841" cy="54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3000" b="1" i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Актуальность и значимость работы</a:t>
            </a:r>
            <a:endParaRPr lang="ru-RU" sz="3200" b="1" i="0">
              <a:solidFill>
                <a:schemeClr val="tx1"/>
              </a:solidFill>
              <a:latin typeface="Ubuntu Light"/>
              <a:ea typeface="Ubuntu Light"/>
              <a:cs typeface="Ubuntu Light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 flipH="0" flipV="0">
            <a:off x="362701" y="952497"/>
            <a:ext cx="11694127" cy="466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715963" algn="l"/>
              </a:tabLst>
              <a:defRPr/>
            </a:pPr>
            <a:r>
              <a:rPr lang="ru-RU"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Актуальность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indent="447675" algn="just">
              <a:tabLst>
                <a:tab pos="715963" algn="l"/>
              </a:tabLs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Актуальность данной работы обусловлена стремительной цифровизацией всех сфер деятельности, что привело к резкому росту количества проектов и задач, управляемых в распределённых командах. Современные организации, от стартапов до крупных корпораций, сталкиваются с необходимостью координации совместной работы, отслеживания прогресса и эффективного распределения ресурсов. </a:t>
            </a:r>
            <a:r>
              <a:rPr lang="ru-RU" sz="2000" b="0" i="0" u="none" strike="noStrike" cap="none" spc="0">
                <a:solidFill>
                  <a:srgbClr val="FF0000"/>
                </a:solidFill>
                <a:latin typeface="Ubuntu Light"/>
                <a:ea typeface="Ubuntu Light"/>
                <a:cs typeface="Ubuntu Light"/>
              </a:rPr>
              <a:t>Однако после введения санкций множество </a:t>
            </a:r>
            <a:r>
              <a:rPr lang="ru-RU" sz="2000" b="0" i="0" u="none" strike="noStrike" cap="none" spc="0">
                <a:solidFill>
                  <a:srgbClr val="FF0000"/>
                </a:solidFill>
                <a:latin typeface="Ubuntu Light"/>
                <a:ea typeface="Ubuntu Light"/>
                <a:cs typeface="Ubuntu Light"/>
              </a:rPr>
              <a:t>популярных зарубежных</a:t>
            </a:r>
            <a:r>
              <a:rPr lang="ru-RU" sz="2000" b="0" i="0" u="none" strike="noStrike" cap="none" spc="0">
                <a:solidFill>
                  <a:srgbClr val="FF0000"/>
                </a:solidFill>
                <a:latin typeface="Ubuntu Light"/>
                <a:ea typeface="Ubuntu Light"/>
                <a:cs typeface="Ubuntu Light"/>
              </a:rPr>
              <a:t> систем управления проектами прекратили обслуживание пользователей из Российской Федерации</a:t>
            </a:r>
            <a:r>
              <a:rPr lang="ru-RU" sz="2000" b="0" i="0" u="none" strike="noStrike" cap="none" spc="0">
                <a:solidFill>
                  <a:srgbClr val="FF0000"/>
                </a:solidFill>
                <a:latin typeface="Ubuntu Light"/>
                <a:ea typeface="Ubuntu Light"/>
                <a:cs typeface="Ubuntu Light"/>
              </a:rPr>
              <a:t>, </a:t>
            </a:r>
            <a:r>
              <a:rPr lang="ru-RU" sz="2000" b="0" i="0" u="none" strike="noStrike" cap="none" spc="0">
                <a:solidFill>
                  <a:srgbClr val="FF0000"/>
                </a:solidFill>
                <a:latin typeface="Ubuntu Light"/>
                <a:ea typeface="Ubuntu Light"/>
                <a:cs typeface="Ubuntu Light"/>
              </a:rPr>
              <a:t>что создало существенный пробел на рынке и повысило спрос на отечественные альтернативы</a:t>
            </a:r>
            <a:r>
              <a:rPr lang="ru-RU" sz="2000" b="0" i="0" u="none" strike="noStrike" cap="none" spc="0">
                <a:solidFill>
                  <a:srgbClr val="FF0000"/>
                </a:solidFill>
                <a:latin typeface="Ubuntu Light"/>
                <a:ea typeface="Ubuntu Light"/>
                <a:cs typeface="Ubuntu Light"/>
              </a:rPr>
              <a:t>.</a:t>
            </a:r>
            <a:endParaRPr sz="2000">
              <a:solidFill>
                <a:srgbClr val="FF0000"/>
              </a:solidFill>
              <a:latin typeface="Ubuntu Light"/>
              <a:cs typeface="Ubuntu Light"/>
            </a:endParaRPr>
          </a:p>
          <a:p>
            <a:pPr algn="just">
              <a:tabLst>
                <a:tab pos="715963" algn="l"/>
              </a:tabLst>
              <a:defRPr/>
            </a:pPr>
            <a:r>
              <a:rPr lang="ru-RU"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Значимость</a:t>
            </a:r>
            <a:endParaRPr lang="ru-RU" sz="2000" b="1">
              <a:solidFill>
                <a:schemeClr val="tx1"/>
              </a:solidFill>
              <a:latin typeface="Ubuntu Light"/>
              <a:ea typeface="Ubuntu Light"/>
              <a:cs typeface="Ubuntu Light"/>
            </a:endParaRPr>
          </a:p>
          <a:p>
            <a:pPr indent="447675" algn="just">
              <a:tabLst>
                <a:tab pos="715963" algn="l"/>
              </a:tabLst>
              <a:defRPr/>
            </a:pPr>
            <a:r>
              <a:rPr lang="ru-RU"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Созданная система предоставляет: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indent="447675" algn="just">
              <a:tabLst>
                <a:tab pos="715963" algn="l"/>
              </a:tabLst>
              <a:defRPr/>
            </a:pPr>
            <a:r>
              <a:rPr lang="ru-RU"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-	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современные и удобные инструменты для совместной работы команд  с поддержкой ролевого разграничения доступа</a:t>
            </a:r>
            <a:r>
              <a:rPr lang="ru-RU"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;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742950" lvl="1" indent="-285750" algn="just">
              <a:buFontTx/>
              <a:buChar char="-"/>
              <a:tabLst>
                <a:tab pos="715963" algn="l"/>
              </a:tabLs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оптимизировать взаимодействие между участниками команд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, построенную на принципах модульной архитектуры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, что обеспечивает лёгкость сопровождения и расширения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.</a:t>
            </a:r>
            <a:endParaRPr>
              <a:solidFill>
                <a:schemeClr val="tx1"/>
              </a:solidFill>
              <a:latin typeface="Ubuntu Light"/>
              <a:cs typeface="Ubuntu Light"/>
            </a:endParaRPr>
          </a:p>
        </p:txBody>
      </p:sp>
      <p:sp>
        <p:nvSpPr>
          <p:cNvPr id="1441876177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88E7117-2DD1-4AD8-639B-A98112B187F5}" type="slidenum">
              <a:rPr lang="ru-RU" sz="1600"/>
              <a:t>2</a:t>
            </a:fld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1304211" y="253305"/>
            <a:ext cx="9582401" cy="54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3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Цель и задачи работы</a:t>
            </a:r>
            <a:endParaRPr sz="4800" b="1" i="0">
              <a:solidFill>
                <a:schemeClr val="tx1"/>
              </a:solidFill>
              <a:latin typeface="Calibri Light"/>
            </a:endParaRPr>
          </a:p>
          <a:p>
            <a:pPr algn="ctr">
              <a:buNone/>
              <a:defRPr/>
            </a:pPr>
            <a:endParaRPr sz="4800" b="1" i="0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448755" y="1091385"/>
            <a:ext cx="11108039" cy="100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715963" algn="l"/>
              </a:tabLst>
              <a:defRPr/>
            </a:pPr>
            <a:r>
              <a:rPr lang="ru-RU" sz="2000" b="1" i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Цель работы  </a:t>
            </a:r>
            <a:r>
              <a:rPr lang="ru-RU"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–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разработка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системы управления проектами, обеспечивающая совместную работу команд над задачами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с поддержкой ролевого разграничения доступа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и построенная на основе модульной архитектуры.</a:t>
            </a:r>
            <a:endParaRPr>
              <a:solidFill>
                <a:schemeClr val="tx1"/>
              </a:solidFill>
              <a:latin typeface="Ubuntu Light"/>
              <a:cs typeface="Ubuntu Light"/>
            </a:endParaRPr>
          </a:p>
        </p:txBody>
      </p:sp>
      <p:sp>
        <p:nvSpPr>
          <p:cNvPr id="17" name="TextBox 16"/>
          <p:cNvSpPr txBox="1"/>
          <p:nvPr/>
        </p:nvSpPr>
        <p:spPr bwMode="auto">
          <a:xfrm>
            <a:off x="448755" y="2360352"/>
            <a:ext cx="11243625" cy="327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715963" algn="l"/>
              </a:tabLst>
              <a:defRPr/>
            </a:pPr>
            <a:r>
              <a:rPr lang="ru-RU" sz="2000" b="1" i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 Задачи:</a:t>
            </a:r>
            <a:endParaRPr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763108" lvl="1" indent="-305908">
              <a:spcAft>
                <a:spcPts val="599"/>
              </a:spcAft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проанализировать предметную область и существующие решения;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763108" lvl="1" indent="-305908">
              <a:spcAft>
                <a:spcPts val="599"/>
              </a:spcAft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установить основные требования  к системе;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763108" lvl="1" indent="-305908">
              <a:spcAft>
                <a:spcPts val="599"/>
              </a:spcAft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выполнить проектирование программного продукта с помощью UML-диаграмм, построить диаграмму вариантов использования, последовательности, сущностей, развертывания;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763108" lvl="1" indent="-305908">
              <a:spcAft>
                <a:spcPts val="599"/>
              </a:spcAft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выбрать инструменты для реализации системы;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763108" lvl="1" indent="-305908">
              <a:spcAft>
                <a:spcPts val="599"/>
              </a:spcAft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реализовать серверную и клиентскую части системы.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algn="just">
              <a:tabLst>
                <a:tab pos="715963" algn="l"/>
              </a:tabLst>
              <a:defRPr/>
            </a:pPr>
            <a:endParaRPr sz="2400">
              <a:solidFill>
                <a:srgbClr val="5D418D"/>
              </a:solidFill>
              <a:latin typeface="Ubuntu Light"/>
              <a:cs typeface="Ubuntu Light"/>
            </a:endParaRPr>
          </a:p>
        </p:txBody>
      </p:sp>
      <p:sp>
        <p:nvSpPr>
          <p:cNvPr id="333997752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13382B2-2982-ADC0-4585-D3E6945762FE}" type="slidenum">
              <a:rPr lang="ru-RU" sz="1600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1304211" y="253305"/>
            <a:ext cx="9582401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Анализ предметной области</a:t>
            </a:r>
            <a:endParaRPr sz="2800" b="1" i="0">
              <a:solidFill>
                <a:schemeClr val="tx1"/>
              </a:solidFill>
              <a:latin typeface="Ubuntu Light"/>
              <a:cs typeface="Ubuntu Light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 flipH="0" flipV="0">
            <a:off x="530265" y="1135377"/>
            <a:ext cx="11173484" cy="426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just">
              <a:tabLst>
                <a:tab pos="715963" algn="l"/>
              </a:tabLs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В ходе анализа предметной области были рассмотрены существующие программные продукты, выявлены их преимущества и недостатки, а также определён набор требований к разрабатываемой системе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и выбор основной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методологии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.</a:t>
            </a:r>
            <a:endParaRPr>
              <a:solidFill>
                <a:schemeClr val="tx1"/>
              </a:solidFill>
              <a:latin typeface="Ubuntu Light"/>
              <a:cs typeface="Ubuntu Light"/>
            </a:endParaRPr>
          </a:p>
          <a:p>
            <a:pPr indent="447675" algn="just">
              <a:tabLst>
                <a:tab pos="715963" algn="l"/>
              </a:tabLst>
              <a:defRPr/>
            </a:pP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algn="just">
              <a:tabLst>
                <a:tab pos="715963" algn="l"/>
              </a:tabLst>
              <a:defRPr/>
            </a:pPr>
            <a:r>
              <a:rPr lang="ru-RU"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Основные требования к системе:</a:t>
            </a:r>
            <a:endParaRPr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715963" algn="l"/>
              </a:tabLs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интуитивно понятный интерфейс, не требующий длительного обучения</a:t>
            </a:r>
            <a:r>
              <a:rPr lang="ru-RU"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;</a:t>
            </a:r>
            <a:endParaRPr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715963" algn="l"/>
              </a:tabLs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ролевая модель с разграничением прав</a:t>
            </a:r>
            <a:r>
              <a:rPr lang="ru-RU"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;</a:t>
            </a:r>
            <a:endParaRPr sz="2000">
              <a:solidFill>
                <a:schemeClr val="tx1"/>
              </a:solidFill>
              <a:latin typeface="Ubuntu Light"/>
              <a:ea typeface="Ubuntu Light"/>
              <a:cs typeface="Ubuntu Light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715962" algn="l"/>
              </a:tabLs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совместная работа команды над проектами и задачами;</a:t>
            </a:r>
            <a:endParaRPr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715963" algn="l"/>
              </a:tabLs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модульная архитектура серверной части для упрощения сопровождения</a:t>
            </a:r>
            <a:r>
              <a:rPr lang="ru-RU"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;</a:t>
            </a:r>
            <a:endParaRPr sz="2000">
              <a:solidFill>
                <a:schemeClr val="tx1"/>
              </a:solidFill>
              <a:latin typeface="Ubuntu Light"/>
              <a:ea typeface="Ubuntu Light"/>
              <a:cs typeface="Ubuntu Light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715962" algn="l"/>
              </a:tabLs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синхронизация изменений в реальном времени;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715962" algn="l"/>
              </a:tabLs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наглядное отображение состояния задач. </a:t>
            </a:r>
            <a:endParaRPr sz="2000">
              <a:solidFill>
                <a:srgbClr val="FF0000"/>
              </a:solidFill>
              <a:latin typeface="Ubuntu Light"/>
              <a:cs typeface="Ubuntu Light"/>
            </a:endParaRPr>
          </a:p>
          <a:p>
            <a:pPr marL="342900" indent="-342900" algn="just">
              <a:buFont typeface="Arial"/>
              <a:buChar char="•"/>
              <a:tabLst>
                <a:tab pos="715962" algn="l"/>
              </a:tabLst>
              <a:defRPr/>
            </a:pPr>
            <a:endParaRPr/>
          </a:p>
        </p:txBody>
      </p:sp>
      <p:sp>
        <p:nvSpPr>
          <p:cNvPr id="231644768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E976CD-BAD8-7107-C94A-C8E61C19FD32}" type="slidenum">
              <a:rPr lang="ru-RU" sz="1600"/>
              <a:t>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5623771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5" y="0"/>
            <a:ext cx="12189747" cy="6858000"/>
          </a:xfrm>
          <a:prstGeom prst="rect">
            <a:avLst/>
          </a:prstGeom>
        </p:spPr>
      </p:pic>
      <p:sp>
        <p:nvSpPr>
          <p:cNvPr id="936720829" name="TextBox 4"/>
          <p:cNvSpPr txBox="1"/>
          <p:nvPr/>
        </p:nvSpPr>
        <p:spPr bwMode="auto">
          <a:xfrm>
            <a:off x="1304209" y="253305"/>
            <a:ext cx="9599318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Архитектура системы</a:t>
            </a:r>
            <a:endParaRPr sz="4800" b="1" i="0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1059206986" name="TextBox 6"/>
          <p:cNvSpPr txBox="1"/>
          <p:nvPr/>
        </p:nvSpPr>
        <p:spPr bwMode="auto">
          <a:xfrm flipH="0" flipV="0">
            <a:off x="448752" y="1091383"/>
            <a:ext cx="10972529" cy="2225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      Серверная часть системы представляет собой модульный монолит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–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единое приложение, разделённое на слабосвязанные модули с чётко определёнными зонами ответственности. Каждый модуль отвечает за отдельную предметную область.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Такая архитектура обеспечивает высокую гибкость и упрощает дальнейшее развитие системы: изменения в одном модуле не требуют перестройки остальных.</a:t>
            </a:r>
            <a:endParaRPr sz="2000" b="0" i="0" u="none" strike="noStrike" cap="none" spc="0">
              <a:solidFill>
                <a:schemeClr val="tx1"/>
              </a:solidFill>
              <a:latin typeface="Ubuntu Light"/>
              <a:cs typeface="Ubuntu Light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Ubuntu Light"/>
              <a:cs typeface="Ubuntu Light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Ubuntu Light"/>
              <a:cs typeface="Ubuntu Light"/>
            </a:endParaRPr>
          </a:p>
        </p:txBody>
      </p:sp>
      <p:pic>
        <p:nvPicPr>
          <p:cNvPr id="13760784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4550" y="2802434"/>
            <a:ext cx="7918967" cy="2993069"/>
          </a:xfrm>
          <a:prstGeom prst="rect">
            <a:avLst/>
          </a:prstGeom>
        </p:spPr>
      </p:pic>
      <p:sp>
        <p:nvSpPr>
          <p:cNvPr id="162106058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3C1EF2-4B70-7618-8D1F-CD4B0237BEFD}" type="slidenum">
              <a:rPr lang="ru-RU" sz="1600"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2508958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496" y="0"/>
            <a:ext cx="12189746" cy="6858000"/>
          </a:xfrm>
          <a:prstGeom prst="rect">
            <a:avLst/>
          </a:prstGeom>
        </p:spPr>
      </p:pic>
      <p:sp>
        <p:nvSpPr>
          <p:cNvPr id="1718595923" name="TextBox 4"/>
          <p:cNvSpPr txBox="1"/>
          <p:nvPr/>
        </p:nvSpPr>
        <p:spPr bwMode="auto">
          <a:xfrm>
            <a:off x="1304209" y="253305"/>
            <a:ext cx="9590318" cy="518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Структура модуля</a:t>
            </a:r>
            <a:endParaRPr sz="4800" b="1" i="0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1287032631" name="TextBox 6"/>
          <p:cNvSpPr txBox="1"/>
          <p:nvPr/>
        </p:nvSpPr>
        <p:spPr bwMode="auto">
          <a:xfrm flipH="0" flipV="0">
            <a:off x="448752" y="1091383"/>
            <a:ext cx="6167249" cy="4054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      Каждый модуль построен по трёхуровневой схеме: обработчик (HTTP-запросы), сервис (бизнес-логика) и репозиторий (доступ к БД). Это обеспечивает единообразие и отделение логики от хранения данных.</a:t>
            </a:r>
            <a:endParaRPr lang="ru-RU" sz="2000" b="0" i="0" u="none" strike="noStrike" cap="none" spc="0">
              <a:solidFill>
                <a:schemeClr val="tx1"/>
              </a:solidFill>
              <a:latin typeface="Ubuntu Light"/>
              <a:ea typeface="Ubuntu Light"/>
              <a:cs typeface="Ubuntu Light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      Такая архитектура упрощает сопровождение и добавление новых возможностей.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Обработчик выполняет парсинг и валидацию входных данных, формирует HTTP-ответ. Сервис координирует выполнение операции, проверяет права доступа и публикует события . Репозиторий инкапсулирует SQL-запросы, скрывая детали реализации базы данных.</a:t>
            </a:r>
            <a:endParaRPr sz="2000">
              <a:latin typeface="Ubuntu Light"/>
              <a:cs typeface="Ubuntu Light"/>
            </a:endParaRPr>
          </a:p>
        </p:txBody>
      </p:sp>
      <p:pic>
        <p:nvPicPr>
          <p:cNvPr id="5561814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924673" y="956307"/>
            <a:ext cx="4895848" cy="5086350"/>
          </a:xfrm>
          <a:prstGeom prst="rect">
            <a:avLst/>
          </a:prstGeom>
        </p:spPr>
      </p:pic>
      <p:sp>
        <p:nvSpPr>
          <p:cNvPr id="719051455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8CBFAA3-DC0F-3CD5-EF70-17A37AEF6201}" type="slidenum">
              <a:rPr lang="ru-RU" sz="1600"/>
              <a:t>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5" y="0"/>
            <a:ext cx="121897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1304211" y="253305"/>
            <a:ext cx="9582401" cy="54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3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Диаграмма вариантов использования</a:t>
            </a:r>
            <a:endParaRPr sz="3200" b="1" i="0">
              <a:solidFill>
                <a:srgbClr val="5D418D"/>
              </a:solidFill>
              <a:latin typeface="Ubuntu Light"/>
              <a:cs typeface="Ubuntu Light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578768" y="5993044"/>
            <a:ext cx="556717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ctr">
              <a:tabLst>
                <a:tab pos="715963" algn="l"/>
              </a:tabLst>
              <a:defRPr/>
            </a:pPr>
            <a:r>
              <a:rPr lang="ru-RU" sz="2000">
                <a:solidFill>
                  <a:srgbClr val="5D418D"/>
                </a:solidFill>
              </a:rPr>
              <a:t> </a:t>
            </a:r>
            <a:endParaRPr/>
          </a:p>
        </p:txBody>
      </p:sp>
      <p:pic>
        <p:nvPicPr>
          <p:cNvPr id="16239289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2974" y="838080"/>
            <a:ext cx="10654976" cy="4935539"/>
          </a:xfrm>
          <a:prstGeom prst="rect">
            <a:avLst/>
          </a:prstGeom>
        </p:spPr>
      </p:pic>
      <p:sp>
        <p:nvSpPr>
          <p:cNvPr id="280348860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76D82-E19B-18A7-9108-258976AA0FC3}" type="slidenum">
              <a:rPr lang="ru-RU" sz="1600"/>
              <a:t>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1304211" y="253305"/>
            <a:ext cx="9597881" cy="94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Диаграмма последовательности для прецедента </a:t>
            </a:r>
            <a:r>
              <a:rPr lang="ru-RU" sz="28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«Аутентификация в системе»</a:t>
            </a:r>
            <a:r>
              <a:rPr lang="ru-RU" sz="28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 </a:t>
            </a:r>
            <a:endParaRPr lang="ru-RU" sz="3200" b="1" i="0">
              <a:solidFill>
                <a:srgbClr val="5D418D"/>
              </a:solidFill>
              <a:latin typeface="Calibri Light"/>
            </a:endParaRPr>
          </a:p>
        </p:txBody>
      </p:sp>
      <p:pic>
        <p:nvPicPr>
          <p:cNvPr id="7942648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06099" y="1198544"/>
            <a:ext cx="8934449" cy="5527190"/>
          </a:xfrm>
          <a:prstGeom prst="rect">
            <a:avLst/>
          </a:prstGeom>
        </p:spPr>
      </p:pic>
      <p:sp>
        <p:nvSpPr>
          <p:cNvPr id="632515063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EA80E3D-6F6E-B6BE-3F5D-6C3D547533E8}" type="slidenum">
              <a:rPr lang="ru-RU" sz="1600"/>
              <a:t>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1304211" y="253305"/>
            <a:ext cx="9592481" cy="94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Диаграмма </a:t>
            </a:r>
            <a:r>
              <a:rPr lang="ru-RU" sz="28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последовательности для прецедента «Создание задачи»</a:t>
            </a:r>
            <a:endParaRPr/>
          </a:p>
        </p:txBody>
      </p:sp>
      <p:pic>
        <p:nvPicPr>
          <p:cNvPr id="353192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87024" y="1259323"/>
            <a:ext cx="9150295" cy="5454885"/>
          </a:xfrm>
          <a:prstGeom prst="rect">
            <a:avLst/>
          </a:prstGeom>
        </p:spPr>
      </p:pic>
      <p:sp>
        <p:nvSpPr>
          <p:cNvPr id="479642548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D48438-3172-88D9-59C6-73AF2A5CFC38}" type="slidenum">
              <a:rPr lang="ru-RU" sz="1600"/>
              <a:t>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7268978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9747" cy="6858000"/>
          </a:xfrm>
          <a:prstGeom prst="rect">
            <a:avLst/>
          </a:prstGeom>
        </p:spPr>
      </p:pic>
      <p:sp>
        <p:nvSpPr>
          <p:cNvPr id="1559223710" name="TextBox 4"/>
          <p:cNvSpPr txBox="1"/>
          <p:nvPr/>
        </p:nvSpPr>
        <p:spPr bwMode="auto">
          <a:xfrm>
            <a:off x="1304210" y="253305"/>
            <a:ext cx="9594640" cy="94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Диаграмма </a:t>
            </a:r>
            <a:r>
              <a:rPr lang="ru-RU" sz="28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последовательности для прецедента «</a:t>
            </a:r>
            <a:r>
              <a:rPr lang="ru-RU" sz="28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Приглашение участника в проект</a:t>
            </a:r>
            <a:r>
              <a:rPr lang="ru-RU" sz="28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»</a:t>
            </a:r>
            <a:endParaRPr/>
          </a:p>
        </p:txBody>
      </p:sp>
      <p:pic>
        <p:nvPicPr>
          <p:cNvPr id="18161072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9199" y="1300867"/>
            <a:ext cx="9859651" cy="4362624"/>
          </a:xfrm>
          <a:prstGeom prst="rect">
            <a:avLst/>
          </a:prstGeom>
        </p:spPr>
      </p:pic>
      <p:sp>
        <p:nvSpPr>
          <p:cNvPr id="1389951951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7754060-CBA4-CB6A-C154-5B3BCCD6D2B4}" type="slidenum">
              <a:rPr lang="ru-RU" sz="1600"/>
              <a:t>10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47623"/>
            <a:ext cx="121897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1304210" y="253305"/>
            <a:ext cx="9588160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Диаграмма классов</a:t>
            </a:r>
            <a:endParaRPr sz="2800" b="1" i="0">
              <a:solidFill>
                <a:schemeClr val="tx1"/>
              </a:solidFill>
              <a:latin typeface="Ubuntu Light"/>
              <a:cs typeface="Ubuntu Light"/>
            </a:endParaRPr>
          </a:p>
        </p:txBody>
      </p:sp>
      <p:pic>
        <p:nvPicPr>
          <p:cNvPr id="8802537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58473" y="838499"/>
            <a:ext cx="6810374" cy="5863237"/>
          </a:xfrm>
          <a:prstGeom prst="rect">
            <a:avLst/>
          </a:prstGeom>
        </p:spPr>
      </p:pic>
      <p:sp>
        <p:nvSpPr>
          <p:cNvPr id="1315007115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AA35002-1C7B-BFC1-1D50-D771AB21ADAC}" type="slidenum">
              <a:rPr lang="ru-RU" sz="1600"/>
              <a:t>11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1084675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47622"/>
            <a:ext cx="12189747" cy="6858000"/>
          </a:xfrm>
          <a:prstGeom prst="rect">
            <a:avLst/>
          </a:prstGeom>
        </p:spPr>
      </p:pic>
      <p:sp>
        <p:nvSpPr>
          <p:cNvPr id="695889590" name="TextBox 4"/>
          <p:cNvSpPr txBox="1"/>
          <p:nvPr/>
        </p:nvSpPr>
        <p:spPr bwMode="auto">
          <a:xfrm>
            <a:off x="1304210" y="253305"/>
            <a:ext cx="9582400" cy="518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Диаграмма сущностей</a:t>
            </a:r>
            <a:endParaRPr sz="2800" b="1" i="0">
              <a:solidFill>
                <a:schemeClr val="tx1"/>
              </a:solidFill>
              <a:latin typeface="Ubuntu Light"/>
              <a:cs typeface="Ubuntu Light"/>
            </a:endParaRPr>
          </a:p>
        </p:txBody>
      </p:sp>
      <p:pic>
        <p:nvPicPr>
          <p:cNvPr id="3898124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5123" y="718140"/>
            <a:ext cx="9464620" cy="6058388"/>
          </a:xfrm>
          <a:prstGeom prst="rect">
            <a:avLst/>
          </a:prstGeom>
        </p:spPr>
      </p:pic>
      <p:sp>
        <p:nvSpPr>
          <p:cNvPr id="1113008838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8667749" y="6411402"/>
            <a:ext cx="2743200" cy="365124"/>
          </a:xfrm>
        </p:spPr>
        <p:txBody>
          <a:bodyPr/>
          <a:lstStyle/>
          <a:p>
            <a:pPr>
              <a:defRPr/>
            </a:pPr>
            <a:fld id="{EA5C8BAB-7322-B77E-D4A0-04DEBAC72A30}" type="slidenum">
              <a:rPr lang="ru-RU" sz="1600"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1304211" y="253305"/>
            <a:ext cx="9582401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Диаграмма развёртывания</a:t>
            </a:r>
            <a:endParaRPr sz="2800" b="1" i="0">
              <a:solidFill>
                <a:schemeClr val="tx1"/>
              </a:solidFill>
              <a:latin typeface="Ubuntu Light"/>
              <a:cs typeface="Ubuntu Light"/>
            </a:endParaRPr>
          </a:p>
        </p:txBody>
      </p:sp>
      <p:pic>
        <p:nvPicPr>
          <p:cNvPr id="1344322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6250" y="1190624"/>
            <a:ext cx="3113699" cy="5175752"/>
          </a:xfrm>
          <a:prstGeom prst="rect">
            <a:avLst/>
          </a:prstGeom>
        </p:spPr>
      </p:pic>
      <p:sp>
        <p:nvSpPr>
          <p:cNvPr id="1156734223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AF811F-EAD1-05C0-AEEB-B0E6072755DC}" type="slidenum">
              <a:rPr lang="ru-RU" sz="1600"/>
              <a:t>13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4938277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2366" y="0"/>
            <a:ext cx="12189747" cy="6858000"/>
          </a:xfrm>
          <a:prstGeom prst="rect">
            <a:avLst/>
          </a:prstGeom>
        </p:spPr>
      </p:pic>
      <p:sp>
        <p:nvSpPr>
          <p:cNvPr id="23879195" name="TextBox 4"/>
          <p:cNvSpPr txBox="1"/>
          <p:nvPr/>
        </p:nvSpPr>
        <p:spPr bwMode="auto">
          <a:xfrm>
            <a:off x="1304211" y="253305"/>
            <a:ext cx="9591761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Средства разработки</a:t>
            </a:r>
            <a:endParaRPr sz="2800">
              <a:solidFill>
                <a:schemeClr val="tx1"/>
              </a:solidFill>
              <a:latin typeface="Ubuntu Light"/>
              <a:cs typeface="Ubuntu Light"/>
            </a:endParaRPr>
          </a:p>
        </p:txBody>
      </p:sp>
      <p:pic>
        <p:nvPicPr>
          <p:cNvPr id="1390885403" name=""/>
          <p:cNvPicPr/>
          <p:nvPr/>
        </p:nvPicPr>
        <p:blipFill>
          <a:blip r:embed="rId3"/>
          <a:stretch/>
        </p:blipFill>
        <p:spPr bwMode="auto">
          <a:xfrm rot="0" flipH="0" flipV="0">
            <a:off x="2850000" y="1192346"/>
            <a:ext cx="1440000" cy="1440000"/>
          </a:xfrm>
          <a:prstGeom prst="rect">
            <a:avLst/>
          </a:prstGeom>
        </p:spPr>
      </p:pic>
      <p:pic>
        <p:nvPicPr>
          <p:cNvPr id="292896968" name=""/>
          <p:cNvPicPr/>
          <p:nvPr/>
        </p:nvPicPr>
        <p:blipFill>
          <a:blip r:embed="rId4"/>
          <a:stretch/>
        </p:blipFill>
        <p:spPr bwMode="auto">
          <a:xfrm rot="0" flipH="0" flipV="0">
            <a:off x="1200000" y="1118579"/>
            <a:ext cx="1440000" cy="1440000"/>
          </a:xfrm>
          <a:prstGeom prst="rect">
            <a:avLst/>
          </a:prstGeom>
        </p:spPr>
      </p:pic>
      <p:pic>
        <p:nvPicPr>
          <p:cNvPr id="1364125470" name=""/>
          <p:cNvPicPr/>
          <p:nvPr/>
        </p:nvPicPr>
        <p:blipFill>
          <a:blip r:embed="rId5"/>
          <a:stretch/>
        </p:blipFill>
        <p:spPr bwMode="auto">
          <a:xfrm rot="0" flipH="0" flipV="0">
            <a:off x="4500000" y="1192346"/>
            <a:ext cx="1440000" cy="1440000"/>
          </a:xfrm>
          <a:prstGeom prst="rect">
            <a:avLst/>
          </a:prstGeom>
        </p:spPr>
      </p:pic>
      <p:pic>
        <p:nvPicPr>
          <p:cNvPr id="1704212062" name=""/>
          <p:cNvPicPr/>
          <p:nvPr/>
        </p:nvPicPr>
        <p:blipFill>
          <a:blip r:embed="rId6"/>
          <a:stretch/>
        </p:blipFill>
        <p:spPr bwMode="auto">
          <a:xfrm rot="0" flipH="0" flipV="0">
            <a:off x="1787099" y="4312080"/>
            <a:ext cx="1440000" cy="1440000"/>
          </a:xfrm>
          <a:prstGeom prst="rect">
            <a:avLst/>
          </a:prstGeom>
        </p:spPr>
      </p:pic>
      <p:pic>
        <p:nvPicPr>
          <p:cNvPr id="1600094633" name=""/>
          <p:cNvPicPr/>
          <p:nvPr/>
        </p:nvPicPr>
        <p:blipFill>
          <a:blip r:embed="rId7"/>
          <a:stretch/>
        </p:blipFill>
        <p:spPr bwMode="auto">
          <a:xfrm rot="0" flipH="0" flipV="0">
            <a:off x="2850000" y="2709000"/>
            <a:ext cx="1440000" cy="1440000"/>
          </a:xfrm>
          <a:prstGeom prst="rect">
            <a:avLst/>
          </a:prstGeom>
        </p:spPr>
      </p:pic>
      <p:pic>
        <p:nvPicPr>
          <p:cNvPr id="1303380823" name=""/>
          <p:cNvPicPr/>
          <p:nvPr/>
        </p:nvPicPr>
        <p:blipFill>
          <a:blip r:embed="rId8"/>
          <a:stretch/>
        </p:blipFill>
        <p:spPr bwMode="auto">
          <a:xfrm rot="0" flipH="0" flipV="0">
            <a:off x="4500000" y="2632346"/>
            <a:ext cx="1440000" cy="1440000"/>
          </a:xfrm>
          <a:prstGeom prst="rect">
            <a:avLst/>
          </a:prstGeom>
        </p:spPr>
      </p:pic>
      <p:pic>
        <p:nvPicPr>
          <p:cNvPr id="183635517" name=""/>
          <p:cNvPicPr/>
          <p:nvPr/>
        </p:nvPicPr>
        <p:blipFill>
          <a:blip r:embed="rId9"/>
          <a:stretch/>
        </p:blipFill>
        <p:spPr bwMode="auto">
          <a:xfrm rot="0" flipH="0" flipV="0">
            <a:off x="1200000" y="2495549"/>
            <a:ext cx="1440000" cy="1440000"/>
          </a:xfrm>
          <a:prstGeom prst="rect">
            <a:avLst/>
          </a:prstGeom>
        </p:spPr>
      </p:pic>
      <p:sp>
        <p:nvSpPr>
          <p:cNvPr id="1344128080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323AF25-0EF1-A6E3-B1E7-D89D0B53649B}" type="slidenum">
              <a:rPr lang="ru-RU" sz="1600"/>
              <a:t>14</a:t>
            </a:fld>
            <a:endParaRPr/>
          </a:p>
        </p:txBody>
      </p:sp>
      <p:sp>
        <p:nvSpPr>
          <p:cNvPr id="1704212063" name="TextBox 1704212062"/>
          <p:cNvSpPr txBox="1"/>
          <p:nvPr/>
        </p:nvSpPr>
        <p:spPr bwMode="auto">
          <a:xfrm>
            <a:off x="6217920" y="1188720"/>
            <a:ext cx="5314318" cy="464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5C2D91"/>
                </a:solidFill>
                <a:latin typeface="Segoe UI"/>
              </a:defRPr>
            </a:pPr>
            <a:endParaRPr>
              <a:latin typeface="Ubuntu Light"/>
              <a:cs typeface="Ubuntu Light"/>
            </a:endParaRPr>
          </a:p>
          <a:p>
            <a:pPr>
              <a:spcAft>
                <a:spcPts val="1200"/>
              </a:spcAft>
              <a:defRPr sz="1600">
                <a:latin typeface="Segoe UI"/>
              </a:defRPr>
            </a:pP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• </a:t>
            </a: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Язык программирования: </a:t>
            </a:r>
            <a:r>
              <a:rPr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Go (Golang)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>
              <a:spcAft>
                <a:spcPts val="1200"/>
              </a:spcAft>
              <a:defRPr sz="1600">
                <a:latin typeface="Segoe UI"/>
              </a:defRPr>
            </a:pP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• </a:t>
            </a: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Клиентская часть: </a:t>
            </a:r>
            <a:r>
              <a:rPr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React (библиотека UI), Vite (сборщик), Tailwind CSS (стилизация)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>
              <a:spcAft>
                <a:spcPts val="1200"/>
              </a:spcAft>
              <a:defRPr sz="1600">
                <a:latin typeface="Segoe UI"/>
              </a:defRPr>
            </a:pP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• </a:t>
            </a: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База данных: </a:t>
            </a:r>
            <a:r>
              <a:rPr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PostgreSQL (реляционная СУБД)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>
              <a:spcAft>
                <a:spcPts val="1200"/>
              </a:spcAft>
              <a:defRPr sz="1600">
                <a:latin typeface="Segoe UI"/>
              </a:defRPr>
            </a:pP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• </a:t>
            </a: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Инфраструктура: </a:t>
            </a:r>
            <a:r>
              <a:rPr sz="200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Docker (контейнеризация)</a:t>
            </a:r>
            <a:endParaRPr sz="2000">
              <a:solidFill>
                <a:schemeClr val="tx1"/>
              </a:solidFill>
              <a:latin typeface="Ubuntu Light"/>
              <a:cs typeface="Ubuntu Light"/>
            </a:endParaRPr>
          </a:p>
          <a:p>
            <a:pPr>
              <a:spcAft>
                <a:spcPts val="1200"/>
              </a:spcAft>
              <a:defRPr sz="1600">
                <a:latin typeface="Segoe UI"/>
              </a:defRPr>
            </a:pP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• </a:t>
            </a:r>
            <a:r>
              <a:rPr sz="2000" b="1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Ср</a:t>
            </a:r>
            <a:r>
              <a:rPr sz="2000" b="1">
                <a:solidFill>
                  <a:srgbClr val="282828"/>
                </a:solidFill>
                <a:latin typeface="Ubuntu Light"/>
                <a:ea typeface="Ubuntu Light"/>
                <a:cs typeface="Ubuntu Light"/>
              </a:rPr>
              <a:t>еда разработки: </a:t>
            </a:r>
            <a:r>
              <a:rPr sz="2000">
                <a:solidFill>
                  <a:srgbClr val="3C3C3C"/>
                </a:solidFill>
                <a:latin typeface="Ubuntu Light"/>
                <a:ea typeface="Ubuntu Light"/>
                <a:cs typeface="Ubuntu Light"/>
              </a:rPr>
              <a:t>VS Code</a:t>
            </a:r>
            <a:endParaRPr sz="2000">
              <a:solidFill>
                <a:srgbClr val="3C3C3C"/>
              </a:solidFill>
              <a:latin typeface="Ubuntu Light"/>
              <a:ea typeface="Ubuntu Light"/>
              <a:cs typeface="Ubuntu Light"/>
            </a:endParaRPr>
          </a:p>
          <a:p>
            <a:pPr>
              <a:spcAft>
                <a:spcPts val="1199"/>
              </a:spcAft>
              <a:defRPr>
                <a:latin typeface="Segoe UI"/>
              </a:defRPr>
            </a:pPr>
            <a:r>
              <a:rPr lang="ru-RU" sz="20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• </a:t>
            </a:r>
            <a:r>
              <a:rPr lang="ru-RU" sz="20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Контроль версий</a:t>
            </a:r>
            <a:r>
              <a:rPr lang="ru-RU" sz="2000" b="1" i="0" u="none" strike="noStrike" cap="none" spc="0">
                <a:solidFill>
                  <a:srgbClr val="282828"/>
                </a:solidFill>
                <a:latin typeface="Ubuntu Light"/>
                <a:ea typeface="Ubuntu Light"/>
                <a:cs typeface="Ubuntu Light"/>
              </a:rPr>
              <a:t>: </a:t>
            </a:r>
            <a:r>
              <a:rPr lang="ru-RU" sz="2000" b="0" i="0" u="none" strike="noStrike" cap="none" spc="0">
                <a:solidFill>
                  <a:srgbClr val="3C3C3C"/>
                </a:solidFill>
                <a:latin typeface="Ubuntu Light"/>
                <a:ea typeface="Ubuntu Light"/>
                <a:cs typeface="Ubuntu Light"/>
              </a:rPr>
              <a:t>Git</a:t>
            </a:r>
            <a:r>
              <a:rPr lang="ru-RU" sz="2000" b="0" i="0" u="none" strike="noStrike" cap="none" spc="0">
                <a:solidFill>
                  <a:srgbClr val="3C3C3C"/>
                </a:solidFill>
                <a:latin typeface="Ubuntu Light"/>
                <a:ea typeface="Ubuntu Light"/>
                <a:cs typeface="Ubuntu Light"/>
              </a:rPr>
              <a:t> </a:t>
            </a:r>
            <a:endParaRPr sz="2000">
              <a:solidFill>
                <a:srgbClr val="3C3C3C"/>
              </a:solidFill>
              <a:latin typeface="Ubuntu Light"/>
              <a:ea typeface="Ubuntu Light"/>
              <a:cs typeface="Ubuntu Light"/>
            </a:endParaRPr>
          </a:p>
          <a:p>
            <a:pPr>
              <a:spcAft>
                <a:spcPts val="1199"/>
              </a:spcAft>
              <a:defRPr sz="1600">
                <a:latin typeface="Segoe UI"/>
              </a:defRPr>
            </a:pPr>
            <a:endParaRPr sz="2000">
              <a:latin typeface="Ubuntu Light"/>
              <a:cs typeface="Ubuntu Light"/>
            </a:endParaRPr>
          </a:p>
        </p:txBody>
      </p:sp>
      <p:pic>
        <p:nvPicPr>
          <p:cNvPr id="659489292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rot="0" flipH="0" flipV="0">
            <a:off x="3569999" y="4253549"/>
            <a:ext cx="1440000" cy="14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727431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9747" cy="6858000"/>
          </a:xfrm>
          <a:prstGeom prst="rect">
            <a:avLst/>
          </a:prstGeom>
        </p:spPr>
      </p:pic>
      <p:sp>
        <p:nvSpPr>
          <p:cNvPr id="2066128657" name="TextBox 4"/>
          <p:cNvSpPr txBox="1"/>
          <p:nvPr/>
        </p:nvSpPr>
        <p:spPr bwMode="auto">
          <a:xfrm>
            <a:off x="1304210" y="253305"/>
            <a:ext cx="9591400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/>
            </a:pPr>
            <a:r>
              <a:rPr lang="ru-RU" sz="2800" b="1" i="0" u="none" strike="noStrike" cap="none" spc="0">
                <a:solidFill>
                  <a:schemeClr val="tx1"/>
                </a:solidFill>
                <a:latin typeface="Ubuntu Light"/>
                <a:ea typeface="Ubuntu Light"/>
                <a:cs typeface="Ubuntu Light"/>
              </a:rPr>
              <a:t>Итоги</a:t>
            </a:r>
            <a:endParaRPr sz="4800" b="1" i="0"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1442697753" name="TextBox 6"/>
          <p:cNvSpPr txBox="1"/>
          <p:nvPr/>
        </p:nvSpPr>
        <p:spPr bwMode="auto">
          <a:xfrm flipH="0" flipV="0">
            <a:off x="448753" y="1091383"/>
            <a:ext cx="11124237" cy="283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sz="2000" b="0" i="0" u="none">
                <a:solidFill>
                  <a:srgbClr val="000000"/>
                </a:solidFill>
                <a:latin typeface="Ubuntu Light"/>
                <a:ea typeface="Ubuntu Light"/>
                <a:cs typeface="Ubuntu Light"/>
              </a:rPr>
              <a:t>     В ходе выполнения выпускной квалификационной работы была создана модульная система управления проектами, где реализованы совместная работа над задачами, ролевое разграничение доступа и основная логика управления проектами. </a:t>
            </a:r>
            <a:endParaRPr sz="2000" b="0" i="0" u="none">
              <a:solidFill>
                <a:srgbClr val="000000"/>
              </a:solidFill>
              <a:latin typeface="Ubuntu Light"/>
              <a:ea typeface="Ubuntu Light"/>
              <a:cs typeface="Ubuntu Light"/>
            </a:endParaRPr>
          </a:p>
          <a:p>
            <a:pPr algn="just">
              <a:defRPr/>
            </a:pPr>
            <a:endParaRPr sz="2000">
              <a:latin typeface="Ubuntu Light"/>
              <a:cs typeface="Ubuntu Light"/>
            </a:endParaRPr>
          </a:p>
          <a:p>
            <a:pPr algn="just">
              <a:defRPr/>
            </a:pPr>
            <a:endParaRPr sz="2000">
              <a:latin typeface="Ubuntu Light"/>
              <a:cs typeface="Ubuntu Light"/>
            </a:endParaRPr>
          </a:p>
          <a:p>
            <a:pPr algn="just">
              <a:defRPr/>
            </a:pPr>
            <a:endParaRPr sz="2000">
              <a:latin typeface="Ubuntu Light"/>
              <a:cs typeface="Ubuntu Light"/>
            </a:endParaRPr>
          </a:p>
          <a:p>
            <a:pPr algn="just">
              <a:defRPr/>
            </a:pPr>
            <a:endParaRPr sz="2000">
              <a:latin typeface="Ubuntu Light"/>
              <a:cs typeface="Ubuntu Light"/>
            </a:endParaRPr>
          </a:p>
          <a:p>
            <a:pPr algn="just">
              <a:defRPr/>
            </a:pPr>
            <a:endParaRPr sz="2000">
              <a:latin typeface="Ubuntu Light"/>
              <a:cs typeface="Ubuntu Light"/>
            </a:endParaRPr>
          </a:p>
          <a:p>
            <a:pPr algn="just">
              <a:defRPr/>
            </a:pPr>
            <a:r>
              <a:rPr sz="2000" b="0" i="0" u="none">
                <a:solidFill>
                  <a:srgbClr val="FF0000"/>
                </a:solidFill>
                <a:latin typeface="Ubuntu Light"/>
                <a:ea typeface="Ubuntu Light"/>
                <a:cs typeface="Ubuntu Light"/>
              </a:rPr>
              <a:t>ДОБАВИТЬ!!!!</a:t>
            </a:r>
            <a:endParaRPr sz="2000">
              <a:solidFill>
                <a:srgbClr val="FF0000"/>
              </a:solidFill>
              <a:latin typeface="Ubuntu Light"/>
              <a:cs typeface="Ubuntu Light"/>
            </a:endParaRPr>
          </a:p>
        </p:txBody>
      </p:sp>
      <p:sp>
        <p:nvSpPr>
          <p:cNvPr id="144420050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B52758-C9A0-2920-ABF0-5977A9E8ECB1}" type="slidenum">
              <a:rPr lang="ru-RU" sz="1600"/>
              <a:t>15</a:t>
            </a:fld>
            <a:endParaRPr/>
          </a:p>
        </p:txBody>
      </p:sp>
      <p:sp>
        <p:nvSpPr>
          <p:cNvPr id="2066128658" name="Chevron 2066128657"/>
          <p:cNvSpPr/>
          <p:nvPr/>
        </p:nvSpPr>
        <p:spPr>
          <a:xfrm>
            <a:off x="457200" y="3200400"/>
            <a:ext cx="2145792" cy="1371600"/>
          </a:xfrm>
          <a:prstGeom prst="chevron">
            <a:avLst/>
          </a:prstGeom>
          <a:solidFill>
            <a:srgbClr val="3264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Анализ и UML</a:t>
            </a:r>
          </a:p>
        </p:txBody>
      </p:sp>
      <p:sp>
        <p:nvSpPr>
          <p:cNvPr id="2066128659" name="Chevron 2066128658"/>
          <p:cNvSpPr/>
          <p:nvPr/>
        </p:nvSpPr>
        <p:spPr>
          <a:xfrm>
            <a:off x="2740152" y="3200400"/>
            <a:ext cx="2145792" cy="1371600"/>
          </a:xfrm>
          <a:prstGeom prst="chevron">
            <a:avLst/>
          </a:prstGeom>
          <a:solidFill>
            <a:srgbClr val="5078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Схема БД (PostgreSQL)</a:t>
            </a:r>
          </a:p>
        </p:txBody>
      </p:sp>
      <p:sp>
        <p:nvSpPr>
          <p:cNvPr id="2066128660" name="Chevron 2066128659"/>
          <p:cNvSpPr/>
          <p:nvPr/>
        </p:nvSpPr>
        <p:spPr>
          <a:xfrm>
            <a:off x="5023104" y="3200400"/>
            <a:ext cx="2145792" cy="1371600"/>
          </a:xfrm>
          <a:prstGeom prst="chevron">
            <a:avLst/>
          </a:prstGeom>
          <a:solidFill>
            <a:srgbClr val="6E8C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Ядро API (Go)</a:t>
            </a:r>
          </a:p>
        </p:txBody>
      </p:sp>
      <p:sp>
        <p:nvSpPr>
          <p:cNvPr id="2066128661" name="Chevron 2066128660"/>
          <p:cNvSpPr/>
          <p:nvPr/>
        </p:nvSpPr>
        <p:spPr>
          <a:xfrm>
            <a:off x="7306056" y="3200400"/>
            <a:ext cx="2145792" cy="1371600"/>
          </a:xfrm>
          <a:prstGeom prst="chevron">
            <a:avLst/>
          </a:prstGeom>
          <a:solidFill>
            <a:srgbClr val="8CA0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SPA-клиент (React)</a:t>
            </a:r>
          </a:p>
        </p:txBody>
      </p:sp>
      <p:sp>
        <p:nvSpPr>
          <p:cNvPr id="2066128662" name="Chevron 2066128661"/>
          <p:cNvSpPr/>
          <p:nvPr/>
        </p:nvSpPr>
        <p:spPr>
          <a:xfrm>
            <a:off x="9589008" y="3200400"/>
            <a:ext cx="2145792" cy="1371600"/>
          </a:xfrm>
          <a:prstGeom prst="chevron">
            <a:avLst/>
          </a:prstGeom>
          <a:solidFill>
            <a:srgbClr val="AAB4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Docker &amp; WebSockets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-87085"/>
            <a:ext cx="12192000" cy="69450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3039191" y="2554461"/>
            <a:ext cx="6113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4800" b="1">
                <a:solidFill>
                  <a:schemeClr val="bg1"/>
                </a:solidFill>
                <a:latin typeface="Calibri Light"/>
                <a:cs typeface="Gotham Pro Black"/>
              </a:rPr>
              <a:t>Спасибо за внимание!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377" y="5426090"/>
            <a:ext cx="3405051" cy="1375995"/>
          </a:xfrm>
          <a:prstGeom prst="rect">
            <a:avLst/>
          </a:prstGeom>
        </p:spPr>
      </p:pic>
      <p:sp>
        <p:nvSpPr>
          <p:cNvPr id="33492911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60761C-1053-6141-0FB4-16375A68899C}" type="slidenum">
              <a:rPr lang="ru-RU" sz="1600"/>
              <a:t>16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Широкоэкранный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пк-28</dc:creator>
  <cp:keywords/>
  <dc:description/>
  <dc:identifier/>
  <dc:language/>
  <cp:lastModifiedBy>Кирилл Сёмин</cp:lastModifiedBy>
  <cp:revision>63</cp:revision>
  <dcterms:created xsi:type="dcterms:W3CDTF">2023-01-24T12:30:52Z</dcterms:created>
  <dcterms:modified xsi:type="dcterms:W3CDTF">2026-06-21T19:08:40Z</dcterms:modified>
  <cp:category/>
  <cp:contentStatus/>
  <cp:version/>
</cp:coreProperties>
</file>